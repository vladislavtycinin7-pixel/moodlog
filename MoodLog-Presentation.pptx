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slides/cover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42A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95800" y="60855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116509"/>
            <a:ext cx="8595360" cy="72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MoodLog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191000" y="2091779"/>
            <a:ext cx="76200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74494" y="2434679"/>
            <a:ext cx="3194864" cy="42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Дневник настроения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78034" y="2927152"/>
            <a:ext cx="618778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3600"/>
              </a:spcAft>
              <a:buNone/>
            </a:pPr>
            <a:r>
              <a:rPr lang="en-US" sz="1400" dirty="0">
                <a:solidFill>
                  <a:srgbClr val="FFFFFF">
                    <a:alpha val="5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Отслеживайте настроение. Анализируйте эмоции. Понимайте себя.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039094" y="3633341"/>
            <a:ext cx="1204466" cy="393502"/>
          </a:xfrm>
          <a:prstGeom prst="roundRect">
            <a:avLst>
              <a:gd name="adj" fmla="val 64549"/>
            </a:avLst>
          </a:prstGeom>
          <a:solidFill>
            <a:srgbClr val="9B50F5">
              <a:alpha val="20000"/>
            </a:srgbClr>
          </a:solidFill>
          <a:ln w="9525">
            <a:solidFill>
              <a:srgbClr val="9B5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302520" y="3744367"/>
            <a:ext cx="90122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48360" y="3633341"/>
            <a:ext cx="1246882" cy="393502"/>
          </a:xfrm>
          <a:prstGeom prst="roundRect">
            <a:avLst>
              <a:gd name="adj" fmla="val 64549"/>
            </a:avLst>
          </a:prstGeom>
          <a:solidFill>
            <a:srgbClr val="9B50F5">
              <a:alpha val="20000"/>
            </a:srgbClr>
          </a:solidFill>
          <a:ln w="9525">
            <a:solidFill>
              <a:srgbClr val="9B5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811786" y="3744367"/>
            <a:ext cx="9576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00042" y="3633341"/>
            <a:ext cx="2004864" cy="393502"/>
          </a:xfrm>
          <a:prstGeom prst="roundRect">
            <a:avLst>
              <a:gd name="adj" fmla="val 64549"/>
            </a:avLst>
          </a:prstGeom>
          <a:solidFill>
            <a:srgbClr val="9B50F5">
              <a:alpha val="20000"/>
            </a:srgbClr>
          </a:solidFill>
          <a:ln w="9525">
            <a:solidFill>
              <a:srgbClr val="9B5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63468" y="3744367"/>
            <a:ext cx="196575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Prisma + PostgreSQL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16623" y="4819650"/>
            <a:ext cx="428634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34714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Почему это важно?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65002"/>
            <a:ext cx="38100" cy="609600"/>
          </a:xfrm>
          <a:prstGeom prst="roundRect">
            <a:avLst>
              <a:gd name="adj" fmla="val 66667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939701"/>
            <a:ext cx="489823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Психическое здоровье — приоритет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100" y="1244501"/>
            <a:ext cx="467558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Каждый 8-й человек живёт с расстройством. Осознанность — первый шаг к улучшению.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1917204"/>
            <a:ext cx="38100" cy="609600"/>
          </a:xfrm>
          <a:prstGeom prst="roundRect">
            <a:avLst>
              <a:gd name="adj" fmla="val 66667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1891903"/>
            <a:ext cx="489823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Саморефлексия требует инструмента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" y="2196703"/>
            <a:ext cx="467558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Бумажные дневники теряются, заметки — без структуры. Нужен спец. инструмент.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869406"/>
            <a:ext cx="38100" cy="609600"/>
          </a:xfrm>
          <a:prstGeom prst="roundRect">
            <a:avLst>
              <a:gd name="adj" fmla="val 66667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2844105"/>
            <a:ext cx="489823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Данные говорят громче чувств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" y="3148905"/>
            <a:ext cx="467558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Визуальная аналитика выявляет паттерны, которые мы не замечаем.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6938" y="939701"/>
            <a:ext cx="12502" cy="3848249"/>
          </a:xfrm>
          <a:prstGeom prst="rect">
            <a:avLst/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73341" y="1558379"/>
            <a:ext cx="2761059" cy="1203871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64207" y="1786979"/>
            <a:ext cx="317932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73%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794593" y="2320379"/>
            <a:ext cx="2718554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не отслеживают настроение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73341" y="2965400"/>
            <a:ext cx="2761059" cy="1203871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56362" y="3194000"/>
            <a:ext cx="299501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2.5×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794593" y="3727400"/>
            <a:ext cx="2718554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рост осознанности при трекинге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slides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30101"/>
            <a:ext cx="853440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ВОЗМОЖНОСТИ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9600" y="520601"/>
            <a:ext cx="85344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Что умеет MoodLog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962471"/>
            <a:ext cx="50795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1178272"/>
            <a:ext cx="2438400" cy="1504504"/>
          </a:xfrm>
          <a:prstGeom prst="roundRect">
            <a:avLst>
              <a:gd name="adj" fmla="val 844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96826" y="1365498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9B50F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4989" y="1454348"/>
            <a:ext cx="284798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6826" y="1822549"/>
            <a:ext cx="268313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Календарь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6826" y="2104430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Цветовой календарь с навигацией по месяцам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74950" y="1178272"/>
            <a:ext cx="2438400" cy="1504504"/>
          </a:xfrm>
          <a:prstGeom prst="roundRect">
            <a:avLst>
              <a:gd name="adj" fmla="val 844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62176" y="1365498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3B27D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430339" y="1454348"/>
            <a:ext cx="284798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📊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62176" y="1822549"/>
            <a:ext cx="268313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Графики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62176" y="2104430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Интерактивные графики за неделю, месяц, квартал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40301" y="1178272"/>
            <a:ext cx="2438400" cy="1504504"/>
          </a:xfrm>
          <a:prstGeom prst="roundRect">
            <a:avLst>
              <a:gd name="adj" fmla="val 844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927527" y="1365498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5EC4D4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995690" y="1454348"/>
            <a:ext cx="284798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27527" y="1822549"/>
            <a:ext cx="255929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Статистика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927527" y="2104430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6 метрик + распределение эмоций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9600" y="2809726"/>
            <a:ext cx="2438400" cy="1504504"/>
          </a:xfrm>
          <a:prstGeom prst="roundRect">
            <a:avLst>
              <a:gd name="adj" fmla="val 844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96826" y="2996952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9B50F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64989" y="3085802"/>
            <a:ext cx="284798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✏️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6826" y="3454003"/>
            <a:ext cx="268313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Записи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96826" y="3735884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CRUD: ползунок 1-10, заметки, хорошее и плохое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174950" y="2809726"/>
            <a:ext cx="2438400" cy="1504504"/>
          </a:xfrm>
          <a:prstGeom prst="roundRect">
            <a:avLst>
              <a:gd name="adj" fmla="val 844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62176" y="2996952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E3B27D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30339" y="3085802"/>
            <a:ext cx="284798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👤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362176" y="3454003"/>
            <a:ext cx="268313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362176" y="3735884"/>
            <a:ext cx="243545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Аватар, смена имени и пароля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40301" y="2809726"/>
            <a:ext cx="2438400" cy="1504504"/>
          </a:xfrm>
          <a:prstGeom prst="roundRect">
            <a:avLst>
              <a:gd name="adj" fmla="val 844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927527" y="2996952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5EC4D4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995690" y="3085802"/>
            <a:ext cx="284798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🔒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927527" y="3454003"/>
            <a:ext cx="255929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927527" y="3735884"/>
            <a:ext cx="2167146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HMAC-токены, PBKDF2-хеширование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711101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0"/>
            <a:ext cx="9067800" cy="711101"/>
          </a:xfrm>
          <a:prstGeom prst="rect">
            <a:avLst/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80975"/>
            <a:ext cx="399529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Календарь настроения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354485"/>
            <a:ext cx="4135175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Визуальный трекинг каждого дня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600" y="1812875"/>
            <a:ext cx="3947212" cy="1229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Календарь отображает настроение цветом: от тёмного (плохое) до яркого (отличное). Навигация по месяцам позволяет видеть динамику.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128814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251" y="3144589"/>
            <a:ext cx="8998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Отличное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07952" y="3128814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12603" y="3144589"/>
            <a:ext cx="83988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Хорошее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60166" y="3128814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64818" y="3144589"/>
            <a:ext cx="110506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Нормальное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509665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251" y="3525441"/>
            <a:ext cx="792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Так себе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25352" y="3509665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88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30003" y="3525441"/>
            <a:ext cx="68548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Плохое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58802" y="3509665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2D2B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63453" y="3525441"/>
            <a:ext cx="89502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Уставшее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890516"/>
            <a:ext cx="39472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Цвет ячейки формируется из оценки по шкале 1-10 с привязкой к метке эмоции.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4400" y="1609874"/>
            <a:ext cx="3810000" cy="2482453"/>
          </a:xfrm>
          <a:prstGeom prst="roundRect">
            <a:avLst>
              <a:gd name="adj" fmla="val 7162"/>
            </a:avLst>
          </a:prstGeom>
          <a:solidFill>
            <a:srgbClr val="211F40"/>
          </a:solidFill>
          <a:ln/>
          <a:effectLst>
            <a:outerShdw sx="100000" sy="100000" kx="0" ky="0" algn="bl" rotWithShape="0" blurRad="254000" dist="762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27550" y="1813024"/>
            <a:ext cx="13680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Январь 2025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63805" y="1836837"/>
            <a:ext cx="34767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◀ 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9506" y="2149525"/>
            <a:ext cx="589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51257" y="2149525"/>
            <a:ext cx="5895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42814" y="2149525"/>
            <a:ext cx="589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4564" y="2149525"/>
            <a:ext cx="5895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26121" y="2149525"/>
            <a:ext cx="589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7849" y="2149525"/>
            <a:ext cx="589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09577" y="2149525"/>
            <a:ext cx="5897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7550" y="235267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19279" y="2352675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10858" y="235267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02586" y="2352675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94165" y="235267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85893" y="235267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7621" y="235267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27550" y="274632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19279" y="2746325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10858" y="274632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02586" y="2746325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4165" y="274632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85893" y="274632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88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877621" y="2746325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27550" y="313997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19279" y="3139976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10858" y="313997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402586" y="3139976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94165" y="313997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385893" y="313997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877621" y="313997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27550" y="353362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419279" y="3533626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910858" y="353362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02586" y="3533626"/>
            <a:ext cx="453479" cy="355550"/>
          </a:xfrm>
          <a:prstGeom prst="roundRect">
            <a:avLst>
              <a:gd name="adj" fmla="val 1786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894165" y="353362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88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385893" y="353362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877621" y="3533626"/>
            <a:ext cx="453628" cy="355550"/>
          </a:xfrm>
          <a:prstGeom prst="roundRect">
            <a:avLst>
              <a:gd name="adj" fmla="val 1786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15118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Статистика и аналитика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2438400" cy="943273"/>
          </a:xfrm>
          <a:prstGeom prst="roundRect">
            <a:avLst>
              <a:gd name="adj" fmla="val 13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531" y="1066502"/>
            <a:ext cx="287453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156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7341" y="1472803"/>
            <a:ext cx="258291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Всего записей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888802"/>
            <a:ext cx="2438400" cy="943273"/>
          </a:xfrm>
          <a:prstGeom prst="roundRect">
            <a:avLst>
              <a:gd name="adj" fmla="val 13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82331" y="1066502"/>
            <a:ext cx="287453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7.2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90631" y="1472803"/>
            <a:ext cx="245793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Среднее настроение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91200" y="888802"/>
            <a:ext cx="2438400" cy="943273"/>
          </a:xfrm>
          <a:prstGeom prst="roundRect">
            <a:avLst>
              <a:gd name="adj" fmla="val 13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56451" y="1066502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 дн.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18941" y="1472803"/>
            <a:ext cx="258291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Текущая серия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1959025"/>
            <a:ext cx="2438400" cy="943273"/>
          </a:xfrm>
          <a:prstGeom prst="roundRect">
            <a:avLst>
              <a:gd name="adj" fmla="val 13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4851" y="2136725"/>
            <a:ext cx="2707898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Хорошее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7341" y="2466826"/>
            <a:ext cx="258291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Частая эмоция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959025"/>
            <a:ext cx="2438400" cy="943273"/>
          </a:xfrm>
          <a:prstGeom prst="roundRect">
            <a:avLst>
              <a:gd name="adj" fmla="val 13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5651" y="2136725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7.1 ч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128141" y="2543026"/>
            <a:ext cx="258291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Средний сон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91200" y="1959025"/>
            <a:ext cx="2438400" cy="943273"/>
          </a:xfrm>
          <a:prstGeom prst="roundRect">
            <a:avLst>
              <a:gd name="adj" fmla="val 13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6451" y="2136725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28 дн.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8941" y="2543026"/>
            <a:ext cx="258291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Рекорд серии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3054697"/>
            <a:ext cx="853440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Распределение настроения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3379589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Отличное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25501" y="3354288"/>
            <a:ext cx="6401098" cy="203150"/>
          </a:xfrm>
          <a:prstGeom prst="roundRect">
            <a:avLst>
              <a:gd name="adj" fmla="val 25006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25501" y="3354288"/>
            <a:ext cx="2240310" cy="203150"/>
          </a:xfrm>
          <a:prstGeom prst="roundRect">
            <a:avLst>
              <a:gd name="adj" fmla="val 25006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73705" y="3379589"/>
            <a:ext cx="560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600" y="36461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Хорошее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25501" y="3620839"/>
            <a:ext cx="6401098" cy="203150"/>
          </a:xfrm>
          <a:prstGeom prst="roundRect">
            <a:avLst>
              <a:gd name="adj" fmla="val 25006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25501" y="3620839"/>
            <a:ext cx="1792188" cy="203150"/>
          </a:xfrm>
          <a:prstGeom prst="roundRect">
            <a:avLst>
              <a:gd name="adj" fmla="val 25006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73705" y="3646140"/>
            <a:ext cx="560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600" y="3912691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Нормальное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25501" y="3887391"/>
            <a:ext cx="6401098" cy="203150"/>
          </a:xfrm>
          <a:prstGeom prst="roundRect">
            <a:avLst>
              <a:gd name="adj" fmla="val 25006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25501" y="3887391"/>
            <a:ext cx="1280220" cy="203150"/>
          </a:xfrm>
          <a:prstGeom prst="roundRect">
            <a:avLst>
              <a:gd name="adj" fmla="val 25006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73705" y="3912691"/>
            <a:ext cx="560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9600" y="417924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Так себе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25501" y="4153942"/>
            <a:ext cx="6401098" cy="203150"/>
          </a:xfrm>
          <a:prstGeom prst="roundRect">
            <a:avLst>
              <a:gd name="adj" fmla="val 25006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25501" y="4153942"/>
            <a:ext cx="1088082" cy="203150"/>
          </a:xfrm>
          <a:prstGeom prst="roundRect">
            <a:avLst>
              <a:gd name="adj" fmla="val 25006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973705" y="4179243"/>
            <a:ext cx="560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slides/deep-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04651"/>
            <a:ext cx="853440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СИСТЕМА ЗАПИСЕЙ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9600" y="495151"/>
            <a:ext cx="85344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Добавление и редактирование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937022"/>
            <a:ext cx="50795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1127522"/>
            <a:ext cx="4063901" cy="3660428"/>
          </a:xfrm>
          <a:prstGeom prst="roundRect">
            <a:avLst>
              <a:gd name="adj" fmla="val 416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275" y="1340197"/>
            <a:ext cx="422071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Новая запись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275" y="1667173"/>
            <a:ext cx="40024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Настроение (1-10)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275" y="1870323"/>
            <a:ext cx="558701" cy="279350"/>
          </a:xfrm>
          <a:prstGeom prst="roundRect">
            <a:avLst>
              <a:gd name="adj" fmla="val 22731"/>
            </a:avLst>
          </a:prstGeom>
          <a:solidFill>
            <a:srgbClr val="2D2B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62782" y="193372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31727" y="1870323"/>
            <a:ext cx="558701" cy="279350"/>
          </a:xfrm>
          <a:prstGeom prst="roundRect">
            <a:avLst>
              <a:gd name="adj" fmla="val 22731"/>
            </a:avLst>
          </a:prstGeom>
          <a:solidFill>
            <a:srgbClr val="88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72233" y="193372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41178" y="1870323"/>
            <a:ext cx="558701" cy="279350"/>
          </a:xfrm>
          <a:prstGeom prst="roundRect">
            <a:avLst>
              <a:gd name="adj" fmla="val 22731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281684" y="193372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50629" y="1870323"/>
            <a:ext cx="558701" cy="279350"/>
          </a:xfrm>
          <a:prstGeom prst="roundRect">
            <a:avLst>
              <a:gd name="adj" fmla="val 22731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891135" y="193372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60080" y="1870323"/>
            <a:ext cx="558701" cy="279350"/>
          </a:xfrm>
          <a:prstGeom prst="roundRect">
            <a:avLst>
              <a:gd name="adj" fmla="val 22731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00586" y="193372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69531" y="1870323"/>
            <a:ext cx="558701" cy="279350"/>
          </a:xfrm>
          <a:prstGeom prst="roundRect">
            <a:avLst>
              <a:gd name="adj" fmla="val 22731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071193" y="1933724"/>
            <a:ext cx="214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275" y="2225873"/>
            <a:ext cx="3638550" cy="63401"/>
          </a:xfrm>
          <a:prstGeom prst="roundRect">
            <a:avLst>
              <a:gd name="adj" fmla="val 600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22275" y="2225873"/>
            <a:ext cx="2546896" cy="63401"/>
          </a:xfrm>
          <a:prstGeom prst="roundRect">
            <a:avLst>
              <a:gd name="adj" fmla="val 60094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22275" y="2327374"/>
            <a:ext cx="422071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8 — Хорошее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275" y="2600325"/>
            <a:ext cx="42207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Часы сна: 7.5ч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2275" y="2790825"/>
            <a:ext cx="3638550" cy="63401"/>
          </a:xfrm>
          <a:prstGeom prst="roundRect">
            <a:avLst>
              <a:gd name="adj" fmla="val 600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22275" y="2790825"/>
            <a:ext cx="2728913" cy="63401"/>
          </a:xfrm>
          <a:prstGeom prst="roundRect">
            <a:avLst>
              <a:gd name="adj" fmla="val 60094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22275" y="2930426"/>
            <a:ext cx="44390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Заметка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275" y="3120926"/>
            <a:ext cx="3638550" cy="333970"/>
          </a:xfrm>
          <a:prstGeom prst="roundRect">
            <a:avLst>
              <a:gd name="adj" fmla="val 228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923776" y="3197126"/>
            <a:ext cx="377910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Продуктивный день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2275" y="3556397"/>
            <a:ext cx="22990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Хорошее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275" y="3746897"/>
            <a:ext cx="1768525" cy="279202"/>
          </a:xfrm>
          <a:prstGeom prst="roundRect">
            <a:avLst>
              <a:gd name="adj" fmla="val 22743"/>
            </a:avLst>
          </a:prstGeom>
          <a:solidFill>
            <a:srgbClr val="9B50F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911126" y="3810298"/>
            <a:ext cx="1877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Закончил проект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692301" y="3556397"/>
            <a:ext cx="22990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Плохое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692301" y="3746897"/>
            <a:ext cx="1768525" cy="279202"/>
          </a:xfrm>
          <a:prstGeom prst="roundRect">
            <a:avLst>
              <a:gd name="adj" fmla="val 22743"/>
            </a:avLst>
          </a:prstGeom>
          <a:solidFill>
            <a:srgbClr val="E3B27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81151" y="3810298"/>
            <a:ext cx="2068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Мало сна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927402" y="1725960"/>
            <a:ext cx="50750" cy="406301"/>
          </a:xfrm>
          <a:prstGeom prst="roundRect">
            <a:avLst>
              <a:gd name="adj" fmla="val 5004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105102" y="1700659"/>
            <a:ext cx="391877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Шкала 1-10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105102" y="1948309"/>
            <a:ext cx="371607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Слайдер с 6 метками: Уставшее → Отличное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927402" y="2339280"/>
            <a:ext cx="50750" cy="406301"/>
          </a:xfrm>
          <a:prstGeom prst="roundRect">
            <a:avLst>
              <a:gd name="adj" fmla="val 50049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105102" y="2313980"/>
            <a:ext cx="391877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Трекинг сна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105102" y="2561630"/>
            <a:ext cx="371607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Выявите связь между сном и настроением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927402" y="2952601"/>
            <a:ext cx="50750" cy="406301"/>
          </a:xfrm>
          <a:prstGeom prst="roundRect">
            <a:avLst>
              <a:gd name="adj" fmla="val 50049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105102" y="2927300"/>
            <a:ext cx="371607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Заметки + хорошее/плохое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105102" y="3174950"/>
            <a:ext cx="371607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Фиксируйте причины и контекст эмоций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927402" y="3565922"/>
            <a:ext cx="50750" cy="406301"/>
          </a:xfrm>
          <a:prstGeom prst="roundRect">
            <a:avLst>
              <a:gd name="adj" fmla="val 50049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105102" y="3540621"/>
            <a:ext cx="391877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Полный CRUD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5105102" y="3788271"/>
            <a:ext cx="3547162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Создание, просмотр, редактирование, удаление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519238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59384" y="1714500"/>
            <a:ext cx="35754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76573" y="2433638"/>
            <a:ext cx="17864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705" y="2722513"/>
            <a:ext cx="14402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user@moodlog.app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3750" y="3027313"/>
            <a:ext cx="406301" cy="25301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0191" y="3205014"/>
            <a:ext cx="229356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Загрузите аватар с устройства или по 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51150" y="304800"/>
            <a:ext cx="589285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Профиль и авторизация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51150" y="799951"/>
            <a:ext cx="45720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51150" y="990302"/>
            <a:ext cx="38100" cy="431750"/>
          </a:xfrm>
          <a:prstGeom prst="roundRect">
            <a:avLst>
              <a:gd name="adj" fmla="val 66667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16201" y="965002"/>
            <a:ext cx="572779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Регистрация и вход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6201" y="1221432"/>
            <a:ext cx="572779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Полный цикл аутентификации с HMAC-подписанными токенами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51150" y="1586954"/>
            <a:ext cx="38100" cy="431750"/>
          </a:xfrm>
          <a:prstGeom prst="roundRect">
            <a:avLst>
              <a:gd name="adj" fmla="val 66667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16201" y="1561654"/>
            <a:ext cx="572779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Безопасное хранение паролей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6201" y="1818084"/>
            <a:ext cx="572779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PBKDF2 с солью — промышленный стандарт хеширования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51150" y="2183606"/>
            <a:ext cx="38100" cy="431750"/>
          </a:xfrm>
          <a:prstGeom prst="roundRect">
            <a:avLst>
              <a:gd name="adj" fmla="val 66667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16201" y="2158305"/>
            <a:ext cx="572779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Управление профилем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6201" y="2414736"/>
            <a:ext cx="572779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Смена имени, загрузка аватара, изменение пароля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51150" y="2780258"/>
            <a:ext cx="38100" cy="431750"/>
          </a:xfrm>
          <a:prstGeom prst="roundRect">
            <a:avLst>
              <a:gd name="adj" fmla="val 66667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16201" y="2754957"/>
            <a:ext cx="572779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Настройки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16201" y="3011388"/>
            <a:ext cx="572779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Выбор языка, переключение темы, выход с toast-уведомлением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51150" y="3376910"/>
            <a:ext cx="5435650" cy="645021"/>
          </a:xfrm>
          <a:prstGeom prst="roundRect">
            <a:avLst>
              <a:gd name="adj" fmla="val 15751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8851" y="3503861"/>
            <a:ext cx="533426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HMAC гарантирует целостность токенов сессии. PBKDF2 использует 100 000+ итераций для защиты от brute-force атак.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80776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Технологический стек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14251"/>
            <a:ext cx="438161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Архитектура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55663"/>
            <a:ext cx="3777258" cy="641152"/>
          </a:xfrm>
          <a:prstGeom prst="roundRect">
            <a:avLst>
              <a:gd name="adj" fmla="val 15847"/>
            </a:avLst>
          </a:prstGeom>
          <a:solidFill>
            <a:srgbClr val="2D2B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1382613"/>
            <a:ext cx="41746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7301" y="1560314"/>
            <a:ext cx="37640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Next.js 16 + React 19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1973014"/>
            <a:ext cx="3777258" cy="641152"/>
          </a:xfrm>
          <a:prstGeom prst="roundRect">
            <a:avLst>
              <a:gd name="adj" fmla="val 15847"/>
            </a:avLst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301" y="2099965"/>
            <a:ext cx="37640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State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7301" y="2277666"/>
            <a:ext cx="417466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Zustand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2690366"/>
            <a:ext cx="3777258" cy="641152"/>
          </a:xfrm>
          <a:prstGeom prst="roundRect">
            <a:avLst>
              <a:gd name="adj" fmla="val 15847"/>
            </a:avLst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01" y="2817316"/>
            <a:ext cx="41746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Styling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7301" y="2995017"/>
            <a:ext cx="37640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Tailwind CSS 4 + shadcn/ui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3407718"/>
            <a:ext cx="3777258" cy="641152"/>
          </a:xfrm>
          <a:prstGeom prst="roundRect">
            <a:avLst>
              <a:gd name="adj" fmla="val 15847"/>
            </a:avLst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7301" y="3534668"/>
            <a:ext cx="39693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Backend /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7301" y="3712369"/>
            <a:ext cx="37640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407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Next.js Server Actions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4125069"/>
            <a:ext cx="3777258" cy="641152"/>
          </a:xfrm>
          <a:prstGeom prst="roundRect">
            <a:avLst>
              <a:gd name="adj" fmla="val 15847"/>
            </a:avLst>
          </a:prstGeom>
          <a:solidFill>
            <a:srgbClr val="1514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01" y="4252020"/>
            <a:ext cx="41746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7301" y="4429720"/>
            <a:ext cx="37640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Prisma + PostgreSQL (Supabase)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1658" y="914251"/>
            <a:ext cx="12502" cy="3873698"/>
          </a:xfrm>
          <a:prstGeom prst="rect">
            <a:avLst/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08959" y="914251"/>
            <a:ext cx="3877985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Ключевые технологии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08959" y="1280964"/>
            <a:ext cx="3525441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23259" y="139526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08240" y="1485751"/>
            <a:ext cx="27435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31210" y="1423839"/>
            <a:ext cx="34582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31210" y="1595289"/>
            <a:ext cx="32908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Типобезопасность на всём проекте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8959" y="1992064"/>
            <a:ext cx="3525441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23259" y="2106364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94548" y="2196852"/>
            <a:ext cx="3099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31210" y="2134939"/>
            <a:ext cx="35127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Recharts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31210" y="2306389"/>
            <a:ext cx="32908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Интерактивные графики и чарты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08959" y="2703165"/>
            <a:ext cx="3525441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23259" y="281746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85321" y="2907953"/>
            <a:ext cx="3337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31210" y="2846040"/>
            <a:ext cx="34582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31210" y="3017490"/>
            <a:ext cx="32908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Утилитарный CSS нового поколения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08959" y="3414266"/>
            <a:ext cx="3525441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23259" y="352856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99013" y="3619054"/>
            <a:ext cx="2981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31210" y="3557141"/>
            <a:ext cx="34582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31210" y="3728591"/>
            <a:ext cx="32908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Type-safe доступ к PostgreSQL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08959" y="4125367"/>
            <a:ext cx="3525441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23259" y="423966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99013" y="4330154"/>
            <a:ext cx="2981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31210" y="4268242"/>
            <a:ext cx="35127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shadcn/ui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31210" y="4439692"/>
            <a:ext cx="32908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Готовые UI-компоненты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slides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04651"/>
            <a:ext cx="454149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Serverless-оптимизация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600" y="733276"/>
            <a:ext cx="50795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949077"/>
            <a:ext cx="7924800" cy="754261"/>
          </a:xfrm>
          <a:prstGeom prst="roundRect">
            <a:avLst>
              <a:gd name="adj" fmla="val 1347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275" y="11110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2259" y="1177677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54026" y="1111002"/>
            <a:ext cx="788997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Retry Logic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54026" y="1345853"/>
            <a:ext cx="777446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Автоповтор запросов при временных сбоях БД с экспоненциальной задержкой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600" y="1830288"/>
            <a:ext cx="7924800" cy="754261"/>
          </a:xfrm>
          <a:prstGeom prst="roundRect">
            <a:avLst>
              <a:gd name="adj" fmla="val 1347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22275" y="19922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32259" y="2058888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54026" y="1992213"/>
            <a:ext cx="777446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Connection Pooling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54026" y="2227064"/>
            <a:ext cx="777446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Пул соединений Supabase предотвращает исчерпание лимита подключений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9600" y="2711500"/>
            <a:ext cx="7924800" cy="754261"/>
          </a:xfrm>
          <a:prstGeom prst="roundRect">
            <a:avLst>
              <a:gd name="adj" fmla="val 1347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22275" y="28734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32259" y="2940100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54026" y="2873425"/>
            <a:ext cx="777446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Error Boundaries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54026" y="3108275"/>
            <a:ext cx="777446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Границы ошибок React ловят сбои рендеринга вместо падения приложения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9600" y="3592711"/>
            <a:ext cx="7924800" cy="754261"/>
          </a:xfrm>
          <a:prstGeom prst="roundRect">
            <a:avLst>
              <a:gd name="adj" fmla="val 1347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22275" y="375463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32259" y="3821311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54026" y="3754636"/>
            <a:ext cx="777446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Offline Detection + Health Check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54026" y="3989487"/>
            <a:ext cx="777446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Индикатор сети и endpoint /api/health для мониторинга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711101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0"/>
            <a:ext cx="9067800" cy="711101"/>
          </a:xfrm>
          <a:prstGeom prst="rect">
            <a:avLst/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80975"/>
            <a:ext cx="404347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Преимущества проекта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888802"/>
            <a:ext cx="2286000" cy="1045071"/>
          </a:xfrm>
          <a:prstGeom prst="roundRect">
            <a:avLst>
              <a:gd name="adj" fmla="val 12152"/>
            </a:avLst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7186" y="1091952"/>
            <a:ext cx="23308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Full-stack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3577" y="1549152"/>
            <a:ext cx="221804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Единая кодовая база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086273"/>
            <a:ext cx="2286000" cy="1045071"/>
          </a:xfrm>
          <a:prstGeom prst="roundRect">
            <a:avLst>
              <a:gd name="adj" fmla="val 12152"/>
            </a:avLst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5608" y="2289423"/>
            <a:ext cx="25939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0$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3577" y="2746623"/>
            <a:ext cx="221804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Бесплатный хостинг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4200" y="888802"/>
            <a:ext cx="5410200" cy="705892"/>
          </a:xfrm>
          <a:prstGeom prst="roundRect">
            <a:avLst>
              <a:gd name="adj" fmla="val 14393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8012" y="888802"/>
            <a:ext cx="0" cy="705892"/>
          </a:xfrm>
          <a:prstGeom prst="line">
            <a:avLst/>
          </a:prstGeom>
          <a:noFill/>
          <a:ln w="47625">
            <a:solidFill>
              <a:srgbClr val="9B5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9526" y="1015752"/>
            <a:ext cx="5507891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Современный стек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49526" y="1254472"/>
            <a:ext cx="550789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Next.js 16, TypeScript, Prisma — технологии 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24200" y="1696194"/>
            <a:ext cx="5410200" cy="705892"/>
          </a:xfrm>
          <a:prstGeom prst="roundRect">
            <a:avLst>
              <a:gd name="adj" fmla="val 14393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148012" y="1696194"/>
            <a:ext cx="0" cy="705892"/>
          </a:xfrm>
          <a:prstGeom prst="line">
            <a:avLst/>
          </a:prstGeom>
          <a:noFill/>
          <a:ln w="47625">
            <a:solidFill>
              <a:srgbClr val="E3B2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9526" y="1823145"/>
            <a:ext cx="5507891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Безопасность «из коробки»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49526" y="2061865"/>
            <a:ext cx="550789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HMAC-токены, PBKDF2, серверная валидация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24200" y="2503587"/>
            <a:ext cx="5410200" cy="705892"/>
          </a:xfrm>
          <a:prstGeom prst="roundRect">
            <a:avLst>
              <a:gd name="adj" fmla="val 14393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48012" y="2503587"/>
            <a:ext cx="0" cy="705892"/>
          </a:xfrm>
          <a:prstGeom prst="line">
            <a:avLst/>
          </a:prstGeom>
          <a:noFill/>
          <a:ln w="47625">
            <a:solidFill>
              <a:srgbClr val="5EC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9526" y="2630537"/>
            <a:ext cx="5507891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Устойчивость к сбоям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49526" y="2869257"/>
            <a:ext cx="550789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Retry, connection pool, error boundaries, offline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24200" y="3310979"/>
            <a:ext cx="5410200" cy="705892"/>
          </a:xfrm>
          <a:prstGeom prst="roundRect">
            <a:avLst>
              <a:gd name="adj" fmla="val 14393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148012" y="3310979"/>
            <a:ext cx="0" cy="705892"/>
          </a:xfrm>
          <a:prstGeom prst="line">
            <a:avLst/>
          </a:prstGeom>
          <a:noFill/>
          <a:ln w="47625">
            <a:solidFill>
              <a:srgbClr val="E04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9526" y="3437930"/>
            <a:ext cx="5507891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Премиальный дизайн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49526" y="3676650"/>
            <a:ext cx="550789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Тёмная тема, градиенты, glass-morphism, анимации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24200" y="4118372"/>
            <a:ext cx="5410200" cy="705892"/>
          </a:xfrm>
          <a:prstGeom prst="roundRect">
            <a:avLst>
              <a:gd name="adj" fmla="val 14393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148012" y="4118372"/>
            <a:ext cx="0" cy="705892"/>
          </a:xfrm>
          <a:prstGeom prst="line">
            <a:avLst/>
          </a:prstGeom>
          <a:noFill/>
          <a:ln w="47625">
            <a:solidFill>
              <a:srgbClr val="9B50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9526" y="4245322"/>
            <a:ext cx="5507891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Готовность к масштабированию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49526" y="4484043"/>
            <a:ext cx="550789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Serverless, Prisma-миграции, health check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slides/accen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42A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609600" y="992684"/>
            <a:ext cx="79248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9600" y="304800"/>
            <a:ext cx="853440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FFFFFF">
                    <a:alpha val="6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ДИЗАЙН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9600" y="495300"/>
            <a:ext cx="85344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Dark Concept UI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9600" y="2056358"/>
            <a:ext cx="50750" cy="381000"/>
          </a:xfrm>
          <a:prstGeom prst="roundRect">
            <a:avLst>
              <a:gd name="adj" fmla="val 5004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87301" y="2031057"/>
            <a:ext cx="399552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Фиолетово-розовый градиент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7301" y="2278707"/>
            <a:ext cx="381391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Глубокие оттенки purple и pink — атмосфера погружения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9600" y="2882950"/>
            <a:ext cx="50750" cy="381000"/>
          </a:xfrm>
          <a:prstGeom prst="roundRect">
            <a:avLst>
              <a:gd name="adj" fmla="val 50049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7301" y="2857649"/>
            <a:ext cx="421346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Glass-morphism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7301" y="3105299"/>
            <a:ext cx="399552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Полупрозрачные карточки с размытием фона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9600" y="3496270"/>
            <a:ext cx="50750" cy="381000"/>
          </a:xfrm>
          <a:prstGeom prst="roundRect">
            <a:avLst>
              <a:gd name="adj" fmla="val 50049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7301" y="3470970"/>
            <a:ext cx="399552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Плавные анимации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7301" y="3718620"/>
            <a:ext cx="399552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Переходы и микроанимации делают UX живым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73501" y="1427708"/>
            <a:ext cx="3682901" cy="907852"/>
          </a:xfrm>
          <a:prstGeom prst="roundRect">
            <a:avLst>
              <a:gd name="adj" fmla="val 167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60727" y="1614934"/>
            <a:ext cx="40363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Палитра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60727" y="1843534"/>
            <a:ext cx="488603" cy="304800"/>
          </a:xfrm>
          <a:prstGeom prst="roundRect">
            <a:avLst>
              <a:gd name="adj" fmla="val 25000"/>
            </a:avLst>
          </a:prstGeom>
          <a:solidFill>
            <a:srgbClr val="15142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25529" y="1843534"/>
            <a:ext cx="487710" cy="304800"/>
          </a:xfrm>
          <a:prstGeom prst="roundRect">
            <a:avLst>
              <a:gd name="adj" fmla="val 25000"/>
            </a:avLst>
          </a:prstGeom>
          <a:solidFill>
            <a:srgbClr val="2D2B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89439" y="1843534"/>
            <a:ext cx="487859" cy="304800"/>
          </a:xfrm>
          <a:prstGeom prst="roundRect">
            <a:avLst>
              <a:gd name="adj" fmla="val 25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53498" y="1843534"/>
            <a:ext cx="487710" cy="304800"/>
          </a:xfrm>
          <a:prstGeom prst="roundRect">
            <a:avLst>
              <a:gd name="adj" fmla="val 25000"/>
            </a:avLst>
          </a:prstGeom>
          <a:solidFill>
            <a:srgbClr val="E04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117407" y="1843534"/>
            <a:ext cx="487859" cy="304800"/>
          </a:xfrm>
          <a:prstGeom prst="roundRect">
            <a:avLst>
              <a:gd name="adj" fmla="val 2500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681466" y="1843534"/>
            <a:ext cx="487710" cy="304800"/>
          </a:xfrm>
          <a:prstGeom prst="roundRect">
            <a:avLst>
              <a:gd name="adj" fmla="val 25000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673501" y="2462510"/>
            <a:ext cx="3682901" cy="1120527"/>
          </a:xfrm>
          <a:prstGeom prst="roundRect">
            <a:avLst>
              <a:gd name="adj" fmla="val 1360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60727" y="2649736"/>
            <a:ext cx="38378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Типографика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60727" y="2878336"/>
            <a:ext cx="4036308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Заголовок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860727" y="3224361"/>
            <a:ext cx="36392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Основной текст на тёмном фоне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73501" y="3709988"/>
            <a:ext cx="3682901" cy="825401"/>
          </a:xfrm>
          <a:prstGeom prst="roundRect">
            <a:avLst>
              <a:gd name="adj" fmla="val 1846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35426" y="3871913"/>
            <a:ext cx="38964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Компоненты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35426" y="4100513"/>
            <a:ext cx="777329" cy="272951"/>
          </a:xfrm>
          <a:prstGeom prst="roundRect">
            <a:avLst>
              <a:gd name="adj" fmla="val 83751"/>
            </a:avLst>
          </a:prstGeom>
          <a:solidFill>
            <a:srgbClr val="9B50F5">
              <a:alpha val="25000"/>
            </a:srgbClr>
          </a:solidFill>
          <a:ln w="9525">
            <a:solidFill>
              <a:srgbClr val="9B5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97351" y="4160788"/>
            <a:ext cx="5895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Кнопка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14256" y="4100513"/>
            <a:ext cx="676721" cy="272951"/>
          </a:xfrm>
          <a:prstGeom prst="roundRect">
            <a:avLst>
              <a:gd name="adj" fmla="val 27917"/>
            </a:avLst>
          </a:prstGeom>
          <a:solidFill>
            <a:srgbClr val="5EC4D4">
              <a:alpha val="25000"/>
            </a:srgbClr>
          </a:solidFill>
          <a:ln w="9525">
            <a:solidFill>
              <a:srgbClr val="5EC4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850731" y="4160788"/>
            <a:ext cx="5249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Badge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92478" y="4100513"/>
            <a:ext cx="498128" cy="272951"/>
          </a:xfrm>
          <a:prstGeom prst="roundRect">
            <a:avLst>
              <a:gd name="adj" fmla="val 27917"/>
            </a:avLst>
          </a:prstGeom>
          <a:solidFill>
            <a:srgbClr val="E04070">
              <a:alpha val="25000"/>
            </a:srgbClr>
          </a:solidFill>
          <a:ln w="9525">
            <a:solidFill>
              <a:srgbClr val="E040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628954" y="4160788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407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Tag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slides/closin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42A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95800" y="68803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195983"/>
            <a:ext cx="8595360" cy="63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191000" y="2084784"/>
            <a:ext cx="76200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509140" y="2427684"/>
            <a:ext cx="6125572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MoodLog — ваш персональный дневник настроения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551651" y="2900065"/>
            <a:ext cx="40405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3200"/>
              </a:spcAft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Отслеживайте. Анализируйте. Понимайте себя.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651" y="3553867"/>
            <a:ext cx="1204466" cy="393502"/>
          </a:xfrm>
          <a:prstGeom prst="roundRect">
            <a:avLst>
              <a:gd name="adj" fmla="val 64549"/>
            </a:avLst>
          </a:prstGeom>
          <a:solidFill>
            <a:srgbClr val="9B50F5">
              <a:alpha val="20000"/>
            </a:srgbClr>
          </a:solidFill>
          <a:ln w="9525">
            <a:solidFill>
              <a:srgbClr val="9B50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92077" y="3664893"/>
            <a:ext cx="90122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36268" y="3553867"/>
            <a:ext cx="1246882" cy="393502"/>
          </a:xfrm>
          <a:prstGeom prst="roundRect">
            <a:avLst>
              <a:gd name="adj" fmla="val 64549"/>
            </a:avLst>
          </a:prstGeom>
          <a:solidFill>
            <a:srgbClr val="5EC4D4">
              <a:alpha val="20000"/>
            </a:srgbClr>
          </a:solidFill>
          <a:ln w="9525">
            <a:solidFill>
              <a:srgbClr val="5EC4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99693" y="3664893"/>
            <a:ext cx="95764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86300" y="3553867"/>
            <a:ext cx="1001018" cy="393502"/>
          </a:xfrm>
          <a:prstGeom prst="roundRect">
            <a:avLst>
              <a:gd name="adj" fmla="val 64549"/>
            </a:avLst>
          </a:prstGeom>
          <a:solidFill>
            <a:srgbClr val="E3B27D">
              <a:alpha val="20000"/>
            </a:srgbClr>
          </a:solidFill>
          <a:ln w="9525">
            <a:solidFill>
              <a:srgbClr val="E3B27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49726" y="3664893"/>
            <a:ext cx="66383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Prisma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0468" y="3553867"/>
            <a:ext cx="1424732" cy="393502"/>
          </a:xfrm>
          <a:prstGeom prst="roundRect">
            <a:avLst>
              <a:gd name="adj" fmla="val 64549"/>
            </a:avLst>
          </a:prstGeom>
          <a:solidFill>
            <a:srgbClr val="E04070">
              <a:alpha val="20000"/>
            </a:srgbClr>
          </a:solidFill>
          <a:ln w="9525">
            <a:solidFill>
              <a:srgbClr val="E040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53894" y="3664893"/>
            <a:ext cx="119418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407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16623" y="4813250"/>
            <a:ext cx="4286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MoodLog — Дневник настроения</dc:title>
  <dc:subject>PptxGenJS Presentation</dc:subject>
  <dc:creator>MoodLog</dc:creator>
  <cp:lastModifiedBy>MoodLog</cp:lastModifiedBy>
  <cp:revision>1</cp:revision>
  <dcterms:created xsi:type="dcterms:W3CDTF">2026-05-21T23:35:58Z</dcterms:created>
  <dcterms:modified xsi:type="dcterms:W3CDTF">2026-05-21T23:35:58Z</dcterms:modified>
</cp:coreProperties>
</file>